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1" r:id="rId1"/>
  </p:sldMasterIdLst>
  <p:notesMasterIdLst>
    <p:notesMasterId r:id="rId11"/>
  </p:notesMasterIdLst>
  <p:sldIdLst>
    <p:sldId id="573" r:id="rId2"/>
    <p:sldId id="581" r:id="rId3"/>
    <p:sldId id="582" r:id="rId4"/>
    <p:sldId id="584" r:id="rId5"/>
    <p:sldId id="583" r:id="rId6"/>
    <p:sldId id="586" r:id="rId7"/>
    <p:sldId id="587" r:id="rId8"/>
    <p:sldId id="588" r:id="rId9"/>
    <p:sldId id="585" r:id="rId10"/>
  </p:sldIdLst>
  <p:sldSz cx="12192000" cy="6858000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5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5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5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5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5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5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5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5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5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FFFF"/>
    <a:srgbClr val="FFFF00"/>
    <a:srgbClr val="FF7C80"/>
    <a:srgbClr val="EAEAEA"/>
    <a:srgbClr val="FFFFFF"/>
    <a:srgbClr val="FF9933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Stile medio 2 - Color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4" autoAdjust="0"/>
    <p:restoredTop sz="91642" autoAdjust="0"/>
  </p:normalViewPr>
  <p:slideViewPr>
    <p:cSldViewPr>
      <p:cViewPr varScale="1">
        <p:scale>
          <a:sx n="71" d="100"/>
          <a:sy n="71" d="100"/>
        </p:scale>
        <p:origin x="224" y="48"/>
      </p:cViewPr>
      <p:guideLst>
        <p:guide orient="horz" pos="2183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426267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EDD878F2-D077-4BBD-826A-EABE1B2A48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38113" y="766763"/>
            <a:ext cx="6821487" cy="38385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55DEAAEB-EDBF-4C88-B7CD-B83331A21F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09613" y="4860925"/>
            <a:ext cx="5680075" cy="46069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1436" tIns="45718" rIns="91436" bIns="45718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it-IT" altLang="it-IT" dirty="0"/>
              <a:t>-90+q2, q3</a:t>
            </a:r>
          </a:p>
          <a:p>
            <a:endParaRPr lang="it-IT" altLang="it-IT" dirty="0"/>
          </a:p>
        </p:txBody>
      </p:sp>
    </p:spTree>
    <p:extLst>
      <p:ext uri="{BB962C8B-B14F-4D97-AF65-F5344CB8AC3E}">
        <p14:creationId xmlns:p14="http://schemas.microsoft.com/office/powerpoint/2010/main" val="10924399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ccess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2">
            <a:extLst>
              <a:ext uri="{FF2B5EF4-FFF2-40B4-BE49-F238E27FC236}">
                <a16:creationId xmlns:a16="http://schemas.microsoft.com/office/drawing/2014/main" id="{36C7DAA4-1DB2-4EC7-B72B-581EE78E7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452" y="409705"/>
            <a:ext cx="8812767" cy="463011"/>
          </a:xfrm>
          <a:prstGeom prst="rect">
            <a:avLst/>
          </a:prstGeom>
        </p:spPr>
        <p:txBody>
          <a:bodyPr/>
          <a:lstStyle>
            <a:lvl1pPr algn="l" defTabSz="5511800" rtl="0" eaLnBrk="0" fontAlgn="base" hangingPunct="0">
              <a:spcBef>
                <a:spcPct val="0"/>
              </a:spcBef>
              <a:spcAft>
                <a:spcPct val="0"/>
              </a:spcAft>
              <a:defRPr lang="en-US" sz="2800" i="1" kern="0" cap="small" baseline="0" dirty="0">
                <a:solidFill>
                  <a:srgbClr val="872427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it-IT" noProof="0" dirty="0"/>
              <a:t>Fare clic per modificare lo stile</a:t>
            </a:r>
          </a:p>
        </p:txBody>
      </p:sp>
    </p:spTree>
    <p:extLst>
      <p:ext uri="{BB962C8B-B14F-4D97-AF65-F5344CB8AC3E}">
        <p14:creationId xmlns:p14="http://schemas.microsoft.com/office/powerpoint/2010/main" val="3617201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ine 17">
            <a:extLst>
              <a:ext uri="{FF2B5EF4-FFF2-40B4-BE49-F238E27FC236}">
                <a16:creationId xmlns:a16="http://schemas.microsoft.com/office/drawing/2014/main" id="{3C19E3D2-A54F-4204-96C8-419D66648B5F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28588" y="836613"/>
            <a:ext cx="11954020" cy="0"/>
          </a:xfrm>
          <a:prstGeom prst="line">
            <a:avLst/>
          </a:prstGeom>
          <a:noFill/>
          <a:ln w="15875">
            <a:solidFill>
              <a:srgbClr val="9B0014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it-IT" dirty="0"/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EFC2D24B-E4FC-4BC2-AB95-D566B7DF448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96" b="8791"/>
          <a:stretch/>
        </p:blipFill>
        <p:spPr>
          <a:xfrm>
            <a:off x="164468" y="108431"/>
            <a:ext cx="755960" cy="656273"/>
          </a:xfrm>
          <a:prstGeom prst="rect">
            <a:avLst/>
          </a:prstGeom>
        </p:spPr>
      </p:pic>
      <p:pic>
        <p:nvPicPr>
          <p:cNvPr id="2" name="Immagine 1">
            <a:extLst>
              <a:ext uri="{FF2B5EF4-FFF2-40B4-BE49-F238E27FC236}">
                <a16:creationId xmlns:a16="http://schemas.microsoft.com/office/drawing/2014/main" id="{8EF57A6A-EBF3-4C45-8EBB-8072034E906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253923" y="86016"/>
            <a:ext cx="755970" cy="701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223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ctr" defTabSz="449274" rtl="0" eaLnBrk="0" fontAlgn="base" hangingPunct="0">
        <a:lnSpc>
          <a:spcPct val="8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700">
          <a:solidFill>
            <a:srgbClr val="000000"/>
          </a:solidFill>
          <a:latin typeface="+mj-lt"/>
          <a:ea typeface="Lucida Sans Unicode" charset="0"/>
          <a:cs typeface="+mj-cs"/>
        </a:defRPr>
      </a:lvl1pPr>
      <a:lvl2pPr algn="ctr" defTabSz="449274" rtl="0" eaLnBrk="0" fontAlgn="base" hangingPunct="0">
        <a:lnSpc>
          <a:spcPct val="8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700">
          <a:solidFill>
            <a:srgbClr val="000000"/>
          </a:solidFill>
          <a:latin typeface="Times New Roman" pitchFamily="16" charset="0"/>
          <a:ea typeface="Lucida Sans Unicode" charset="0"/>
          <a:cs typeface="Lucida Sans Unicode" charset="0"/>
        </a:defRPr>
      </a:lvl2pPr>
      <a:lvl3pPr algn="ctr" defTabSz="449274" rtl="0" eaLnBrk="0" fontAlgn="base" hangingPunct="0">
        <a:lnSpc>
          <a:spcPct val="8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700">
          <a:solidFill>
            <a:srgbClr val="000000"/>
          </a:solidFill>
          <a:latin typeface="Times New Roman" pitchFamily="16" charset="0"/>
          <a:ea typeface="Lucida Sans Unicode" charset="0"/>
          <a:cs typeface="Lucida Sans Unicode" charset="0"/>
        </a:defRPr>
      </a:lvl3pPr>
      <a:lvl4pPr algn="ctr" defTabSz="449274" rtl="0" eaLnBrk="0" fontAlgn="base" hangingPunct="0">
        <a:lnSpc>
          <a:spcPct val="8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700">
          <a:solidFill>
            <a:srgbClr val="000000"/>
          </a:solidFill>
          <a:latin typeface="Times New Roman" pitchFamily="16" charset="0"/>
          <a:ea typeface="Lucida Sans Unicode" charset="0"/>
          <a:cs typeface="Lucida Sans Unicode" charset="0"/>
        </a:defRPr>
      </a:lvl4pPr>
      <a:lvl5pPr algn="ctr" defTabSz="449274" rtl="0" eaLnBrk="0" fontAlgn="base" hangingPunct="0">
        <a:lnSpc>
          <a:spcPct val="8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700">
          <a:solidFill>
            <a:srgbClr val="000000"/>
          </a:solidFill>
          <a:latin typeface="Times New Roman" pitchFamily="16" charset="0"/>
          <a:ea typeface="Lucida Sans Unicode" charset="0"/>
          <a:cs typeface="Lucida Sans Unicode" charset="0"/>
        </a:defRPr>
      </a:lvl5pPr>
      <a:lvl6pPr marL="457212" algn="ctr" defTabSz="449274" rtl="0" eaLnBrk="0" fontAlgn="base" hangingPunct="0">
        <a:lnSpc>
          <a:spcPct val="8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700">
          <a:solidFill>
            <a:srgbClr val="000000"/>
          </a:solidFill>
          <a:latin typeface="Times New Roman" pitchFamily="16" charset="0"/>
          <a:cs typeface="Lucida Sans Unicode" charset="0"/>
        </a:defRPr>
      </a:lvl6pPr>
      <a:lvl7pPr marL="914423" algn="ctr" defTabSz="449274" rtl="0" eaLnBrk="0" fontAlgn="base" hangingPunct="0">
        <a:lnSpc>
          <a:spcPct val="8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700">
          <a:solidFill>
            <a:srgbClr val="000000"/>
          </a:solidFill>
          <a:latin typeface="Times New Roman" pitchFamily="16" charset="0"/>
          <a:cs typeface="Lucida Sans Unicode" charset="0"/>
        </a:defRPr>
      </a:lvl7pPr>
      <a:lvl8pPr marL="1371634" algn="ctr" defTabSz="449274" rtl="0" eaLnBrk="0" fontAlgn="base" hangingPunct="0">
        <a:lnSpc>
          <a:spcPct val="8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700">
          <a:solidFill>
            <a:srgbClr val="000000"/>
          </a:solidFill>
          <a:latin typeface="Times New Roman" pitchFamily="16" charset="0"/>
          <a:cs typeface="Lucida Sans Unicode" charset="0"/>
        </a:defRPr>
      </a:lvl8pPr>
      <a:lvl9pPr marL="1828846" algn="ctr" defTabSz="449274" rtl="0" eaLnBrk="0" fontAlgn="base" hangingPunct="0">
        <a:lnSpc>
          <a:spcPct val="8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700">
          <a:solidFill>
            <a:srgbClr val="000000"/>
          </a:solidFill>
          <a:latin typeface="Times New Roman" pitchFamily="16" charset="0"/>
          <a:cs typeface="Lucida Sans Unicode" charset="0"/>
        </a:defRPr>
      </a:lvl9pPr>
    </p:titleStyle>
    <p:bodyStyle>
      <a:lvl1pPr marL="363547" indent="-363547" algn="l" defTabSz="449274" rtl="0" eaLnBrk="0" fontAlgn="base" hangingPunct="0">
        <a:lnSpc>
          <a:spcPct val="82000"/>
        </a:lnSpc>
        <a:spcBef>
          <a:spcPts val="85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•"/>
        <a:defRPr sz="3400">
          <a:solidFill>
            <a:srgbClr val="000000"/>
          </a:solidFill>
          <a:latin typeface="+mn-lt"/>
          <a:ea typeface="Lucida Sans Unicode" charset="0"/>
          <a:cs typeface="+mn-cs"/>
        </a:defRPr>
      </a:lvl1pPr>
      <a:lvl2pPr marL="793770" indent="-301633" algn="l" defTabSz="449274" rtl="0" eaLnBrk="0" fontAlgn="base" hangingPunct="0">
        <a:lnSpc>
          <a:spcPct val="82000"/>
        </a:lnSpc>
        <a:spcBef>
          <a:spcPts val="75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–"/>
        <a:defRPr sz="3000">
          <a:solidFill>
            <a:srgbClr val="000000"/>
          </a:solidFill>
          <a:latin typeface="+mn-lt"/>
          <a:ea typeface="Lucida Sans Unicode" charset="0"/>
          <a:cs typeface="+mn-cs"/>
        </a:defRPr>
      </a:lvl2pPr>
      <a:lvl3pPr marL="1223994" indent="-239719" algn="l" defTabSz="449274" rtl="0" eaLnBrk="0" fontAlgn="base" hangingPunct="0">
        <a:lnSpc>
          <a:spcPct val="82000"/>
        </a:lnSpc>
        <a:spcBef>
          <a:spcPts val="65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•"/>
        <a:defRPr sz="2600">
          <a:solidFill>
            <a:srgbClr val="000000"/>
          </a:solidFill>
          <a:latin typeface="+mn-lt"/>
          <a:ea typeface="Lucida Sans Unicode" charset="0"/>
          <a:cs typeface="+mn-cs"/>
        </a:defRPr>
      </a:lvl3pPr>
      <a:lvl4pPr marL="1716131" indent="-239719" algn="l" defTabSz="449274" rtl="0" eaLnBrk="0" fontAlgn="base" hangingPunct="0">
        <a:lnSpc>
          <a:spcPct val="82000"/>
        </a:lnSpc>
        <a:spcBef>
          <a:spcPts val="55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–"/>
        <a:defRPr sz="2200">
          <a:solidFill>
            <a:srgbClr val="000000"/>
          </a:solidFill>
          <a:latin typeface="+mn-lt"/>
          <a:ea typeface="Lucida Sans Unicode" charset="0"/>
          <a:cs typeface="+mn-cs"/>
        </a:defRPr>
      </a:lvl4pPr>
      <a:lvl5pPr marL="2208269" indent="-239719" algn="l" defTabSz="449274" rtl="0" eaLnBrk="0" fontAlgn="base" hangingPunct="0">
        <a:lnSpc>
          <a:spcPct val="82000"/>
        </a:lnSpc>
        <a:spcBef>
          <a:spcPts val="55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•"/>
        <a:defRPr sz="2200">
          <a:solidFill>
            <a:srgbClr val="000000"/>
          </a:solidFill>
          <a:latin typeface="+mn-lt"/>
          <a:ea typeface="Lucida Sans Unicode" charset="0"/>
          <a:cs typeface="+mn-cs"/>
        </a:defRPr>
      </a:lvl5pPr>
      <a:lvl6pPr marL="2665479" indent="-239719" algn="l" defTabSz="449274" rtl="0" eaLnBrk="0" fontAlgn="base" hangingPunct="0">
        <a:lnSpc>
          <a:spcPct val="82000"/>
        </a:lnSpc>
        <a:spcBef>
          <a:spcPts val="5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buChar char="•"/>
        <a:defRPr sz="2200">
          <a:solidFill>
            <a:srgbClr val="000000"/>
          </a:solidFill>
          <a:latin typeface="+mn-lt"/>
          <a:cs typeface="+mn-cs"/>
        </a:defRPr>
      </a:lvl6pPr>
      <a:lvl7pPr marL="3122691" indent="-239719" algn="l" defTabSz="449274" rtl="0" eaLnBrk="0" fontAlgn="base" hangingPunct="0">
        <a:lnSpc>
          <a:spcPct val="82000"/>
        </a:lnSpc>
        <a:spcBef>
          <a:spcPts val="5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buChar char="•"/>
        <a:defRPr sz="2200">
          <a:solidFill>
            <a:srgbClr val="000000"/>
          </a:solidFill>
          <a:latin typeface="+mn-lt"/>
          <a:cs typeface="+mn-cs"/>
        </a:defRPr>
      </a:lvl7pPr>
      <a:lvl8pPr marL="3579903" indent="-239719" algn="l" defTabSz="449274" rtl="0" eaLnBrk="0" fontAlgn="base" hangingPunct="0">
        <a:lnSpc>
          <a:spcPct val="82000"/>
        </a:lnSpc>
        <a:spcBef>
          <a:spcPts val="5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buChar char="•"/>
        <a:defRPr sz="2200">
          <a:solidFill>
            <a:srgbClr val="000000"/>
          </a:solidFill>
          <a:latin typeface="+mn-lt"/>
          <a:cs typeface="+mn-cs"/>
        </a:defRPr>
      </a:lvl8pPr>
      <a:lvl9pPr marL="4037114" indent="-239719" algn="l" defTabSz="449274" rtl="0" eaLnBrk="0" fontAlgn="base" hangingPunct="0">
        <a:lnSpc>
          <a:spcPct val="82000"/>
        </a:lnSpc>
        <a:spcBef>
          <a:spcPts val="5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buChar char="•"/>
        <a:defRPr sz="2200">
          <a:solidFill>
            <a:srgbClr val="000000"/>
          </a:solidFill>
          <a:latin typeface="+mn-lt"/>
          <a:cs typeface="+mn-cs"/>
        </a:defRPr>
      </a:lvl9pPr>
    </p:bodyStyle>
    <p:otherStyle>
      <a:defPPr>
        <a:defRPr lang="it-IT"/>
      </a:defPPr>
      <a:lvl1pPr marL="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4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6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7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1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2">
            <a:extLst>
              <a:ext uri="{FF2B5EF4-FFF2-40B4-BE49-F238E27FC236}">
                <a16:creationId xmlns:a16="http://schemas.microsoft.com/office/drawing/2014/main" id="{D66EB147-A449-45CE-AC71-132D408CD3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326" y="954106"/>
            <a:ext cx="831692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defRPr sz="5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5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5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5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5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just">
              <a:spcBef>
                <a:spcPts val="300"/>
              </a:spcBef>
            </a:pPr>
            <a:r>
              <a:rPr lang="it-IT" altLang="it-IT" sz="20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GRUPPO 19 - P2: CINEMATICA INVERSA DAVINCI (BRACCIO SINGOLO) </a:t>
            </a: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B364C08-A7DB-48B3-9218-BF4810A88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452" y="404664"/>
            <a:ext cx="8812767" cy="463011"/>
          </a:xfrm>
        </p:spPr>
        <p:txBody>
          <a:bodyPr/>
          <a:lstStyle/>
          <a:p>
            <a:r>
              <a:rPr lang="it-IT" dirty="0"/>
              <a:t>Robotica Medica 2025/26 – Esercitazione Matlab</a:t>
            </a:r>
          </a:p>
        </p:txBody>
      </p:sp>
      <p:sp>
        <p:nvSpPr>
          <p:cNvPr id="8" name="Text Box 2">
            <a:extLst>
              <a:ext uri="{FF2B5EF4-FFF2-40B4-BE49-F238E27FC236}">
                <a16:creationId xmlns:a16="http://schemas.microsoft.com/office/drawing/2014/main" id="{D66EB147-A449-45CE-AC71-132D408CD3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519" y="2492896"/>
            <a:ext cx="5724521" cy="43165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defRPr sz="5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5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5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5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5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just">
              <a:spcBef>
                <a:spcPts val="0"/>
              </a:spcBef>
            </a:pPr>
            <a:r>
              <a:rPr lang="it-IT" altLang="it-IT" sz="16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Punti svolti:</a:t>
            </a:r>
          </a:p>
          <a:p>
            <a:pPr marL="285750" indent="-285750" algn="just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it-IT" altLang="it-IT" sz="16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Funzione </a:t>
            </a:r>
            <a:r>
              <a:rPr lang="it-IT" altLang="it-IT" sz="1600" i="1" dirty="0" err="1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kindirDaVinci</a:t>
            </a:r>
            <a:r>
              <a:rPr lang="it-IT" altLang="it-IT" sz="16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 </a:t>
            </a:r>
            <a:r>
              <a:rPr lang="it-IT" altLang="it-IT" sz="1600" i="1" dirty="0" err="1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kindirCouch</a:t>
            </a:r>
            <a:endParaRPr lang="it-IT" altLang="it-IT" sz="1600" i="1" dirty="0" smtClean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it-IT" altLang="it-IT" sz="16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Funzione </a:t>
            </a:r>
            <a:r>
              <a:rPr lang="it-IT" altLang="it-IT" sz="1600" i="1" dirty="0" err="1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invkinDaVinci</a:t>
            </a:r>
            <a:endParaRPr lang="it-IT" altLang="it-IT" sz="1600" dirty="0" smtClean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it-IT" altLang="it-IT" sz="16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Creare </a:t>
            </a:r>
            <a:r>
              <a:rPr lang="it-IT" altLang="it-IT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script unico che carica/disegna il </a:t>
            </a:r>
            <a:r>
              <a:rPr lang="it-IT" altLang="it-IT" sz="1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DaVinci</a:t>
            </a:r>
            <a:r>
              <a:rPr lang="it-IT" altLang="it-IT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 il </a:t>
            </a:r>
            <a:r>
              <a:rPr lang="it-IT" altLang="it-IT" sz="1600" dirty="0" err="1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RoboCouch</a:t>
            </a:r>
            <a:endParaRPr lang="it-IT" altLang="it-IT" sz="1600" dirty="0" smtClean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it-IT" altLang="it-IT" sz="16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Disporre </a:t>
            </a:r>
            <a:r>
              <a:rPr lang="it-IT" altLang="it-IT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entrambi i bracci in home (punti robot q</a:t>
            </a:r>
            <a:r>
              <a:rPr lang="it-IT" altLang="it-IT" sz="16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285750" indent="-285750" algn="just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it-IT" altLang="it-IT" sz="16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Definire la posizione del target nel sistema del lettino</a:t>
            </a:r>
          </a:p>
          <a:p>
            <a:pPr marL="285750" indent="-285750" algn="just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it-IT" altLang="it-IT" sz="16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it-IT" altLang="it-IT" sz="16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Simulazione:</a:t>
            </a:r>
          </a:p>
          <a:p>
            <a:pPr marL="571500" lvl="1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it-IT" altLang="it-IT" sz="16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Il </a:t>
            </a:r>
            <a:r>
              <a:rPr lang="it-IT" altLang="it-IT" sz="1600" dirty="0" err="1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Couch</a:t>
            </a:r>
            <a:r>
              <a:rPr lang="it-IT" altLang="it-IT" sz="16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si posiziona in modo generico (moto P-P ai giunti)</a:t>
            </a:r>
          </a:p>
          <a:p>
            <a:pPr marL="571500" lvl="1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it-IT" altLang="it-IT" sz="16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 struttura portante del </a:t>
            </a:r>
            <a:r>
              <a:rPr lang="it-IT" altLang="it-IT" sz="1600" dirty="0" err="1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DaVinci</a:t>
            </a:r>
            <a:r>
              <a:rPr lang="it-IT" altLang="it-IT" sz="16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si posiziona (moto P-P ai giunti)</a:t>
            </a:r>
          </a:p>
          <a:p>
            <a:pPr marL="571500" lvl="1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it-IT" altLang="it-IT" sz="16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Il polso del </a:t>
            </a:r>
            <a:r>
              <a:rPr lang="it-IT" altLang="it-IT" sz="1600" dirty="0" err="1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DaVinci</a:t>
            </a:r>
            <a:r>
              <a:rPr lang="it-IT" altLang="it-IT" sz="16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si posiziona con l’utensile fuori dal paziente, quindi lo inserisce fino al punto target (due moti P-P ai giunti)</a:t>
            </a:r>
          </a:p>
          <a:p>
            <a:pPr marL="571500" lvl="1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it-IT" altLang="it-IT" sz="1600" dirty="0" smtClean="0">
                <a:latin typeface="Calibri" panose="020F0502020204030204" pitchFamily="34" charset="0"/>
                <a:cs typeface="Calibri" panose="020F0502020204030204" pitchFamily="34" charset="0"/>
              </a:rPr>
              <a:t>Del movimento verso un nuovo target (con utensile inserito)</a:t>
            </a:r>
          </a:p>
          <a:p>
            <a:pPr marL="571500" lvl="1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it-IT" altLang="it-IT" sz="1600" dirty="0" smtClean="0">
                <a:latin typeface="Calibri" panose="020F0502020204030204" pitchFamily="34" charset="0"/>
                <a:cs typeface="Calibri" panose="020F0502020204030204" pitchFamily="34" charset="0"/>
              </a:rPr>
              <a:t>Del movimento di estrazione dell’utensile</a:t>
            </a:r>
          </a:p>
          <a:p>
            <a:pPr marL="285750" indent="-285750" algn="just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it-IT" altLang="it-IT" sz="1600" dirty="0" smtClean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Box 2">
            <a:extLst>
              <a:ext uri="{FF2B5EF4-FFF2-40B4-BE49-F238E27FC236}">
                <a16:creationId xmlns:a16="http://schemas.microsoft.com/office/drawing/2014/main" id="{D66EB147-A449-45CE-AC71-132D408CD3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326" y="1313932"/>
            <a:ext cx="8316924" cy="10926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defRPr sz="5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5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5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5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5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342900" indent="-342900" algn="just">
              <a:spcBef>
                <a:spcPts val="300"/>
              </a:spcBef>
              <a:buFontTx/>
              <a:buChar char="-"/>
            </a:pPr>
            <a:r>
              <a:rPr lang="it-IT" altLang="it-IT" sz="20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Marta </a:t>
            </a:r>
            <a:r>
              <a:rPr lang="it-IT" altLang="it-IT" sz="2000" b="1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Bordin</a:t>
            </a:r>
            <a:endParaRPr lang="it-IT" altLang="it-IT" sz="2000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just">
              <a:spcBef>
                <a:spcPts val="300"/>
              </a:spcBef>
              <a:buFontTx/>
              <a:buChar char="-"/>
            </a:pPr>
            <a:r>
              <a:rPr lang="it-IT" altLang="it-IT" sz="20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Matilde Marie Manfrini</a:t>
            </a:r>
          </a:p>
          <a:p>
            <a:pPr marL="342900" indent="-342900" algn="just">
              <a:spcBef>
                <a:spcPts val="300"/>
              </a:spcBef>
              <a:buFontTx/>
              <a:buChar char="-"/>
            </a:pPr>
            <a:r>
              <a:rPr lang="it-IT" altLang="it-IT" sz="20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Lorenza Mura</a:t>
            </a:r>
          </a:p>
        </p:txBody>
      </p:sp>
      <p:pic>
        <p:nvPicPr>
          <p:cNvPr id="3" name="Immagin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1204" y="1800613"/>
            <a:ext cx="5329452" cy="3608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644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Procedimento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Box 2">
                <a:extLst>
                  <a:ext uri="{FF2B5EF4-FFF2-40B4-BE49-F238E27FC236}">
                    <a16:creationId xmlns:a16="http://schemas.microsoft.com/office/drawing/2014/main" id="{D66EB147-A449-45CE-AC71-132D408CD3D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93422" y="1952836"/>
                <a:ext cx="10405156" cy="31393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marL="457200" indent="-457200">
                  <a:defRPr sz="5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5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5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5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5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indent="0" algn="just">
                  <a:spcBef>
                    <a:spcPts val="0"/>
                  </a:spcBef>
                </a:pPr>
                <a:r>
                  <a:rPr lang="it-IT" altLang="it-IT" sz="1800" b="1" dirty="0" smtClean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Obiettivo: </a:t>
                </a:r>
                <a:r>
                  <a:rPr lang="it-IT" altLang="it-IT" sz="1800" dirty="0" smtClean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simulare la coordinazione di due robot in uno scenario chirurgico: il </a:t>
                </a:r>
                <a:r>
                  <a:rPr lang="it-IT" altLang="it-IT" sz="1800" dirty="0" err="1" smtClean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DaVinci</a:t>
                </a:r>
                <a:r>
                  <a:rPr lang="it-IT" altLang="it-IT" sz="1800" dirty="0" smtClean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e il </a:t>
                </a:r>
                <a:r>
                  <a:rPr lang="it-IT" altLang="it-IT" sz="1800" dirty="0" err="1" smtClean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RoboCouch</a:t>
                </a:r>
                <a:r>
                  <a:rPr lang="it-IT" altLang="it-IT" sz="1800" dirty="0" smtClean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marL="0" indent="0" algn="just">
                  <a:spcBef>
                    <a:spcPts val="0"/>
                  </a:spcBef>
                </a:pPr>
                <a:endParaRPr lang="it-IT" altLang="it-IT" sz="1800" dirty="0" smtClean="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 algn="just">
                  <a:spcBef>
                    <a:spcPts val="0"/>
                  </a:spcBef>
                </a:pPr>
                <a:r>
                  <a:rPr lang="it-IT" altLang="it-IT" sz="1800" dirty="0" smtClean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Procedimento:</a:t>
                </a:r>
              </a:p>
              <a:p>
                <a:pPr marL="285750" indent="-28575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it-IT" altLang="it-IT" sz="1800" dirty="0" smtClean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Caricamento dei parametri geometrici (DH) e dei modelli 3D dei link dai file </a:t>
                </a:r>
                <a:r>
                  <a:rPr lang="it-IT" altLang="it-IT" sz="1800" i="1" dirty="0" err="1" smtClean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DaVinci.mat</a:t>
                </a:r>
                <a:r>
                  <a:rPr lang="it-IT" altLang="it-IT" sz="1800" dirty="0" smtClean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e </a:t>
                </a:r>
                <a:r>
                  <a:rPr lang="it-IT" altLang="it-IT" sz="1800" i="1" dirty="0" err="1" smtClean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Couch.mat</a:t>
                </a:r>
                <a:r>
                  <a:rPr lang="it-IT" altLang="it-IT" sz="1800" i="1" dirty="0" smtClean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marL="285750" indent="-28575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it-IT" altLang="it-IT" sz="1800" dirty="0" smtClean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Definizione delle funzioni </a:t>
                </a:r>
                <a:r>
                  <a:rPr lang="it-IT" altLang="it-IT" sz="1800" i="1" dirty="0" err="1" smtClean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kindirDaVinci</a:t>
                </a:r>
                <a:r>
                  <a:rPr lang="it-IT" altLang="it-IT" sz="1800" i="1" dirty="0" smtClean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it-IT" altLang="it-IT" sz="1800" dirty="0" smtClean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e </a:t>
                </a:r>
                <a:r>
                  <a:rPr lang="it-IT" altLang="it-IT" sz="1800" i="1" dirty="0" err="1" smtClean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kindirCouch</a:t>
                </a:r>
                <a:r>
                  <a:rPr lang="it-IT" altLang="it-IT" sz="1800" dirty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it-IT" altLang="it-IT" sz="1800" dirty="0" smtClean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per il calcolo delle matrici di trasformazione </a:t>
                </a:r>
                <a:r>
                  <a:rPr lang="it-IT" altLang="it-IT" sz="1800" dirty="0" err="1" smtClean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</a:t>
                </a:r>
                <a:r>
                  <a:rPr lang="it-IT" altLang="it-IT" sz="1800" baseline="-25000" dirty="0" err="1" smtClean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iw</a:t>
                </a:r>
                <a:r>
                  <a:rPr lang="it-IT" altLang="it-IT" sz="1800" dirty="0" smtClean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per ogni link (i), permettendo la visualizzazione della posizione del robot a partire dalle configurazione dei giunti (</a:t>
                </a:r>
                <a14:m>
                  <m:oMath xmlns:m="http://schemas.openxmlformats.org/officeDocument/2006/math">
                    <m:r>
                      <a:rPr lang="it-IT" altLang="it-IT" sz="18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𝑞</m:t>
                    </m:r>
                  </m:oMath>
                </a14:m>
                <a:r>
                  <a:rPr lang="it-IT" altLang="it-IT" sz="1800" dirty="0" smtClean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e </a:t>
                </a:r>
                <a14:m>
                  <m:oMath xmlns:m="http://schemas.openxmlformats.org/officeDocument/2006/math">
                    <m:r>
                      <a:rPr lang="it-IT" altLang="it-IT" sz="18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𝑄</m:t>
                    </m:r>
                  </m:oMath>
                </a14:m>
                <a:r>
                  <a:rPr lang="it-IT" altLang="it-IT" sz="1800" dirty="0" smtClean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).</a:t>
                </a:r>
              </a:p>
              <a:p>
                <a:pPr marL="285750" indent="-28575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it-IT" altLang="it-IT" sz="1800" dirty="0" smtClean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Definizione del target mobile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altLang="it-IT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it-IT" altLang="it-IT" sz="1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𝑃</m:t>
                        </m:r>
                      </m:e>
                      <m:sub>
                        <m:r>
                          <a:rPr lang="it-IT" altLang="it-IT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it-IT" altLang="it-IT" sz="1800" dirty="0" smtClean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) definito relativamente al lettino/</a:t>
                </a:r>
                <a:r>
                  <a:rPr lang="it-IT" altLang="it-IT" sz="1800" dirty="0" err="1" smtClean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Couch</a:t>
                </a:r>
                <a:r>
                  <a:rPr lang="it-IT" altLang="it-IT" sz="1800" dirty="0" smtClean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altLang="it-IT" sz="18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it-IT" altLang="it-IT" sz="18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𝑇</m:t>
                        </m:r>
                      </m:e>
                      <m:sub>
                        <m:r>
                          <a:rPr lang="it-IT" altLang="it-IT" sz="18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𝑡𝑤</m:t>
                        </m:r>
                      </m:sub>
                    </m:sSub>
                  </m:oMath>
                </a14:m>
                <a:r>
                  <a:rPr lang="it-IT" altLang="it-IT" sz="1800" dirty="0" smtClean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): per garantire il movimento di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altLang="it-IT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it-IT" altLang="it-IT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𝑃</m:t>
                        </m:r>
                      </m:e>
                      <m:sub>
                        <m:r>
                          <a:rPr lang="it-IT" altLang="it-IT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it-IT" altLang="it-IT" sz="1800" dirty="0" smtClean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insieme al </a:t>
                </a:r>
                <a:r>
                  <a:rPr lang="it-IT" altLang="it-IT" sz="1800" dirty="0" err="1" smtClean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Couch</a:t>
                </a:r>
                <a:r>
                  <a:rPr lang="it-IT" altLang="it-IT" sz="1800" dirty="0" smtClean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marL="285750" indent="-28575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it-IT" altLang="it-IT" sz="1800" dirty="0" smtClean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Definizione della cinematica inversa </a:t>
                </a:r>
                <a:r>
                  <a:rPr lang="it-IT" altLang="it-IT" sz="1800" i="1" dirty="0" err="1" smtClean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invkinDaVinci</a:t>
                </a:r>
                <a:r>
                  <a:rPr lang="it-IT" altLang="it-IT" sz="1800" dirty="0" smtClean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per il calcolo dei giunti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altLang="it-IT" sz="18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it-IT" altLang="it-IT" sz="18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𝑞</m:t>
                        </m:r>
                      </m:e>
                      <m:sub>
                        <m:r>
                          <a:rPr lang="it-IT" altLang="it-IT" sz="18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5</m:t>
                        </m:r>
                      </m:sub>
                    </m:sSub>
                    <m:r>
                      <a:rPr lang="it-IT" altLang="it-IT" sz="18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−</m:t>
                    </m:r>
                    <m:sSub>
                      <m:sSubPr>
                        <m:ctrlPr>
                          <a:rPr lang="it-IT" altLang="it-IT" sz="18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it-IT" altLang="it-IT" sz="18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𝑞</m:t>
                        </m:r>
                      </m:e>
                      <m:sub>
                        <m:r>
                          <a:rPr lang="it-IT" altLang="it-IT" sz="18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9</m:t>
                        </m:r>
                      </m:sub>
                    </m:sSub>
                  </m:oMath>
                </a14:m>
                <a:r>
                  <a:rPr lang="it-IT" altLang="it-IT" sz="1800" dirty="0" smtClean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) necessari al </a:t>
                </a:r>
                <a:r>
                  <a:rPr lang="it-IT" altLang="it-IT" sz="1800" dirty="0" err="1" smtClean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DaVinci</a:t>
                </a:r>
                <a:r>
                  <a:rPr lang="it-IT" altLang="it-IT" sz="1800" dirty="0" smtClean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per raggiungere il punto target, rispettando il principio del centro di moto remoto (RCM).</a:t>
                </a:r>
              </a:p>
            </p:txBody>
          </p:sp>
        </mc:Choice>
        <mc:Fallback xmlns="">
          <p:sp>
            <p:nvSpPr>
              <p:cNvPr id="3" name="Text Box 2">
                <a:extLst>
                  <a:ext uri="{FF2B5EF4-FFF2-40B4-BE49-F238E27FC236}">
                    <a16:creationId xmlns:a16="http://schemas.microsoft.com/office/drawing/2014/main" id="{D66EB147-A449-45CE-AC71-132D408CD3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93422" y="1952836"/>
                <a:ext cx="10405156" cy="3139321"/>
              </a:xfrm>
              <a:prstGeom prst="rect">
                <a:avLst/>
              </a:prstGeom>
              <a:blipFill>
                <a:blip r:embed="rId2"/>
                <a:stretch>
                  <a:fillRect l="-528" t="-971" r="-528" b="-213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0481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Procedimento: simulazione 1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Box 2">
                <a:extLst>
                  <a:ext uri="{FF2B5EF4-FFF2-40B4-BE49-F238E27FC236}">
                    <a16:creationId xmlns:a16="http://schemas.microsoft.com/office/drawing/2014/main" id="{D66EB147-A449-45CE-AC71-132D408CD3D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5340" y="962726"/>
                <a:ext cx="5940660" cy="18356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marL="457200" indent="-457200">
                  <a:defRPr sz="5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5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5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5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5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285750" indent="-28575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it-IT" altLang="it-IT" sz="1600" dirty="0" smtClean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Tutte le traiettorie sono state implementate come moto P-P nello spazio dei giunti.</a:t>
                </a:r>
              </a:p>
              <a:p>
                <a:pPr marL="285750" indent="-28575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it-IT" altLang="it-IT" sz="1600" dirty="0" smtClean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Viene utilizzato un polinomio cubico (</a:t>
                </a:r>
                <a:r>
                  <a:rPr lang="el-GR" altLang="it-IT" sz="1600" dirty="0" smtClean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σ</a:t>
                </a:r>
                <a:r>
                  <a:rPr lang="it-IT" altLang="it-IT" sz="1600" dirty="0" smtClean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) per interpolare i giunti tra la configurazione iniziale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altLang="it-IT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it-IT" altLang="it-IT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𝑞</m:t>
                        </m:r>
                      </m:e>
                      <m:sub>
                        <m:r>
                          <a:rPr lang="it-IT" altLang="it-IT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it-IT" altLang="it-IT" sz="1600" dirty="0" smtClean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) e quella finale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altLang="it-IT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it-IT" altLang="it-IT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𝑞</m:t>
                        </m:r>
                      </m:e>
                      <m:sub>
                        <m:r>
                          <a:rPr lang="it-IT" altLang="it-IT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it-IT" altLang="it-IT" sz="1600" dirty="0" smtClean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).</a:t>
                </a:r>
              </a:p>
              <a:p>
                <a:pPr marL="285750" indent="-28575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it-IT" altLang="it-IT" sz="1600" dirty="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571500" lvl="1" algn="just">
                  <a:spcBef>
                    <a:spcPts val="0"/>
                  </a:spcBef>
                  <a:buFont typeface="Wingdings" panose="05000000000000000000" pitchFamily="2" charset="2"/>
                  <a:buChar char="Ø"/>
                </a:pPr>
                <a:r>
                  <a:rPr lang="it-IT" altLang="it-IT" sz="1600" b="1" dirty="0" smtClean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Simulazione 1:</a:t>
                </a:r>
                <a:r>
                  <a:rPr lang="it-IT" altLang="it-IT" sz="1600" dirty="0" smtClean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rappresentazione dello spostamento del lettino del </a:t>
                </a:r>
                <a:r>
                  <a:rPr lang="it-IT" altLang="it-IT" sz="1600" dirty="0" err="1" smtClean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Couch</a:t>
                </a:r>
                <a:r>
                  <a:rPr lang="it-IT" altLang="it-IT" sz="1600" dirty="0" smtClean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in una posizione ottimale per l’intervento.</a:t>
                </a:r>
              </a:p>
            </p:txBody>
          </p:sp>
        </mc:Choice>
        <mc:Fallback xmlns="">
          <p:sp>
            <p:nvSpPr>
              <p:cNvPr id="4" name="Text Box 2">
                <a:extLst>
                  <a:ext uri="{FF2B5EF4-FFF2-40B4-BE49-F238E27FC236}">
                    <a16:creationId xmlns:a16="http://schemas.microsoft.com/office/drawing/2014/main" id="{D66EB147-A449-45CE-AC71-132D408CD3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5340" y="962726"/>
                <a:ext cx="5940660" cy="1835631"/>
              </a:xfrm>
              <a:prstGeom prst="rect">
                <a:avLst/>
              </a:prstGeom>
              <a:blipFill>
                <a:blip r:embed="rId2"/>
                <a:stretch>
                  <a:fillRect l="-410" t="-997" r="-513" b="-332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Immagin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388" y="2798357"/>
            <a:ext cx="4882555" cy="366191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Box 2">
                <a:extLst>
                  <a:ext uri="{FF2B5EF4-FFF2-40B4-BE49-F238E27FC236}">
                    <a16:creationId xmlns:a16="http://schemas.microsoft.com/office/drawing/2014/main" id="{D66EB147-A449-45CE-AC71-132D408CD3D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9730" y="6257300"/>
                <a:ext cx="5131880" cy="468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marL="457200" indent="-457200">
                  <a:defRPr sz="5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5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5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5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5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indent="0" algn="ctr">
                  <a:spcBef>
                    <a:spcPts val="0"/>
                  </a:spcBef>
                </a:pPr>
                <a:r>
                  <a:rPr lang="it-IT" altLang="it-IT" sz="1200" i="1" dirty="0" smtClean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Figure (4): </a:t>
                </a:r>
                <a:r>
                  <a:rPr lang="it-IT" altLang="it-IT" sz="1200" dirty="0" smtClean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Profili cinematici (posizione </a:t>
                </a:r>
                <a14:m>
                  <m:oMath xmlns:m="http://schemas.openxmlformats.org/officeDocument/2006/math">
                    <m:r>
                      <a:rPr lang="it-IT" altLang="it-IT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𝑄</m:t>
                    </m:r>
                  </m:oMath>
                </a14:m>
                <a:r>
                  <a:rPr lang="it-IT" altLang="it-IT" sz="1200" dirty="0" smtClean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, velocità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it-IT" altLang="it-IT" sz="12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it-IT" altLang="it-IT" sz="1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𝑄</m:t>
                        </m:r>
                      </m:e>
                    </m:acc>
                  </m:oMath>
                </a14:m>
                <a:r>
                  <a:rPr lang="it-IT" altLang="it-IT" sz="1200" dirty="0" smtClean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, accelerazione </a:t>
                </a:r>
                <a14:m>
                  <m:oMath xmlns:m="http://schemas.openxmlformats.org/officeDocument/2006/math">
                    <m:acc>
                      <m:accPr>
                        <m:chr m:val="̈"/>
                        <m:ctrlPr>
                          <a:rPr lang="it-IT" altLang="it-IT" sz="12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it-IT" altLang="it-IT" sz="1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𝑄</m:t>
                        </m:r>
                      </m:e>
                    </m:acc>
                  </m:oMath>
                </a14:m>
                <a:r>
                  <a:rPr lang="it-IT" altLang="it-IT" sz="1200" dirty="0" smtClean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) dei giunti </a:t>
                </a:r>
                <a14:m>
                  <m:oMath xmlns:m="http://schemas.openxmlformats.org/officeDocument/2006/math">
                    <m:r>
                      <a:rPr lang="it-IT" altLang="it-IT" sz="1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𝑄</m:t>
                    </m:r>
                    <m:r>
                      <a:rPr lang="it-IT" altLang="it-IT" sz="1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(1)−</m:t>
                    </m:r>
                    <m:r>
                      <a:rPr lang="it-IT" altLang="it-IT" sz="1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𝑄</m:t>
                    </m:r>
                    <m:r>
                      <a:rPr lang="it-IT" altLang="it-IT" sz="1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(4)</m:t>
                    </m:r>
                  </m:oMath>
                </a14:m>
                <a:r>
                  <a:rPr lang="it-IT" altLang="it-IT" sz="1200" dirty="0" smtClean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del </a:t>
                </a:r>
                <a:r>
                  <a:rPr lang="it-IT" altLang="it-IT" sz="1200" dirty="0" err="1" smtClean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RoboCouch</a:t>
                </a:r>
                <a:r>
                  <a:rPr lang="it-IT" altLang="it-IT" sz="1200" dirty="0" smtClean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9" name="Text Box 2">
                <a:extLst>
                  <a:ext uri="{FF2B5EF4-FFF2-40B4-BE49-F238E27FC236}">
                    <a16:creationId xmlns:a16="http://schemas.microsoft.com/office/drawing/2014/main" id="{D66EB147-A449-45CE-AC71-132D408CD3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9730" y="6257300"/>
                <a:ext cx="5131880" cy="468654"/>
              </a:xfrm>
              <a:prstGeom prst="rect">
                <a:avLst/>
              </a:prstGeom>
              <a:blipFill>
                <a:blip r:embed="rId4"/>
                <a:stretch>
                  <a:fillRect r="-356" b="-1039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magine 4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95" t="35043" r="39876" b="31550"/>
          <a:stretch/>
        </p:blipFill>
        <p:spPr>
          <a:xfrm>
            <a:off x="7384104" y="3477561"/>
            <a:ext cx="3400455" cy="2615735"/>
          </a:xfrm>
          <a:prstGeom prst="rect">
            <a:avLst/>
          </a:prstGeom>
        </p:spPr>
      </p:pic>
      <p:pic>
        <p:nvPicPr>
          <p:cNvPr id="6" name="Immagine 5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72" t="35296" r="25970" b="31928"/>
          <a:stretch/>
        </p:blipFill>
        <p:spPr>
          <a:xfrm>
            <a:off x="6924092" y="1149170"/>
            <a:ext cx="4326636" cy="2202650"/>
          </a:xfrm>
          <a:prstGeom prst="rect">
            <a:avLst/>
          </a:prstGeom>
        </p:spPr>
      </p:pic>
      <p:sp>
        <p:nvSpPr>
          <p:cNvPr id="10" name="Text Box 2">
            <a:extLst>
              <a:ext uri="{FF2B5EF4-FFF2-40B4-BE49-F238E27FC236}">
                <a16:creationId xmlns:a16="http://schemas.microsoft.com/office/drawing/2014/main" id="{D66EB147-A449-45CE-AC71-132D408CD3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7057" y="6257300"/>
            <a:ext cx="539454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defRPr sz="5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5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5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5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5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ctr">
              <a:spcBef>
                <a:spcPts val="0"/>
              </a:spcBef>
            </a:pPr>
            <a:r>
              <a:rPr lang="it-IT" altLang="it-IT" sz="12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Lettino del </a:t>
            </a:r>
            <a:r>
              <a:rPr lang="it-IT" altLang="it-IT" sz="1200" dirty="0" err="1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RoboCouch</a:t>
            </a:r>
            <a:r>
              <a:rPr lang="it-IT" altLang="it-IT" sz="12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prima (sopra) e dopo (sotto) lo spostamento.</a:t>
            </a:r>
          </a:p>
        </p:txBody>
      </p:sp>
    </p:spTree>
    <p:extLst>
      <p:ext uri="{BB962C8B-B14F-4D97-AF65-F5344CB8AC3E}">
        <p14:creationId xmlns:p14="http://schemas.microsoft.com/office/powerpoint/2010/main" val="563806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Procedimento: simulazione 2 </a:t>
            </a:r>
          </a:p>
        </p:txBody>
      </p:sp>
      <p:sp>
        <p:nvSpPr>
          <p:cNvPr id="3" name="Rettangolo 2"/>
          <p:cNvSpPr/>
          <p:nvPr/>
        </p:nvSpPr>
        <p:spPr>
          <a:xfrm>
            <a:off x="0" y="1200895"/>
            <a:ext cx="6096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57250" lvl="1" indent="-285750" algn="just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it-IT" altLang="it-IT" sz="16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Simulazione 2: </a:t>
            </a:r>
            <a:r>
              <a:rPr lang="it-IT" altLang="it-IT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posizionamento della struttura portante del </a:t>
            </a:r>
            <a:r>
              <a:rPr lang="it-IT" altLang="it-IT" sz="1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DaVinci</a:t>
            </a:r>
            <a:r>
              <a:rPr lang="it-IT" altLang="it-IT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it-IT" altLang="it-IT" sz="1600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Immagin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12" y="1800237"/>
            <a:ext cx="5737888" cy="430341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2">
                <a:extLst>
                  <a:ext uri="{FF2B5EF4-FFF2-40B4-BE49-F238E27FC236}">
                    <a16:creationId xmlns:a16="http://schemas.microsoft.com/office/drawing/2014/main" id="{D66EB147-A449-45CE-AC71-132D408CD3D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0566" y="6103655"/>
                <a:ext cx="513188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marL="457200" indent="-457200">
                  <a:defRPr sz="5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5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5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5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5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indent="0" algn="ctr">
                  <a:spcBef>
                    <a:spcPts val="0"/>
                  </a:spcBef>
                </a:pPr>
                <a:r>
                  <a:rPr lang="it-IT" altLang="it-IT" sz="1200" i="1" dirty="0" smtClean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Figure (5): </a:t>
                </a:r>
                <a:r>
                  <a:rPr lang="it-IT" altLang="it-IT" sz="1200" dirty="0" smtClean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Profili cinematici (posizione </a:t>
                </a:r>
                <a14:m>
                  <m:oMath xmlns:m="http://schemas.openxmlformats.org/officeDocument/2006/math">
                    <m:r>
                      <a:rPr lang="it-IT" altLang="it-IT" sz="1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𝑞</m:t>
                    </m:r>
                  </m:oMath>
                </a14:m>
                <a:r>
                  <a:rPr lang="it-IT" altLang="it-IT" sz="1200" dirty="0" smtClean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, velocità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it-IT" altLang="it-IT" sz="12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it-IT" altLang="it-IT" sz="1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𝑞</m:t>
                        </m:r>
                      </m:e>
                    </m:acc>
                  </m:oMath>
                </a14:m>
                <a:r>
                  <a:rPr lang="it-IT" altLang="it-IT" sz="1200" dirty="0" smtClean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, accelerazione </a:t>
                </a:r>
                <a14:m>
                  <m:oMath xmlns:m="http://schemas.openxmlformats.org/officeDocument/2006/math">
                    <m:acc>
                      <m:accPr>
                        <m:chr m:val="̈"/>
                        <m:ctrlPr>
                          <a:rPr lang="it-IT" altLang="it-IT" sz="12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it-IT" altLang="it-IT" sz="1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𝑞</m:t>
                        </m:r>
                      </m:e>
                    </m:acc>
                  </m:oMath>
                </a14:m>
                <a:r>
                  <a:rPr lang="it-IT" altLang="it-IT" sz="1200" dirty="0" smtClean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) dei giunti </a:t>
                </a:r>
                <a14:m>
                  <m:oMath xmlns:m="http://schemas.openxmlformats.org/officeDocument/2006/math">
                    <m:r>
                      <a:rPr lang="it-IT" altLang="it-IT" sz="1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𝑞</m:t>
                    </m:r>
                    <m:r>
                      <a:rPr lang="it-IT" altLang="it-IT" sz="1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(1)−</m:t>
                    </m:r>
                    <m:r>
                      <a:rPr lang="it-IT" altLang="it-IT" sz="1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𝑞</m:t>
                    </m:r>
                    <m:r>
                      <a:rPr lang="it-IT" altLang="it-IT" sz="1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(4)</m:t>
                    </m:r>
                  </m:oMath>
                </a14:m>
                <a:r>
                  <a:rPr lang="it-IT" altLang="it-IT" sz="1200" dirty="0" smtClean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della struttura portante del </a:t>
                </a:r>
                <a:r>
                  <a:rPr lang="it-IT" altLang="it-IT" sz="1200" dirty="0" err="1" smtClean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DaVinci</a:t>
                </a:r>
                <a:r>
                  <a:rPr lang="it-IT" altLang="it-IT" sz="1200" dirty="0" smtClean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Text Box 2">
                <a:extLst>
                  <a:ext uri="{FF2B5EF4-FFF2-40B4-BE49-F238E27FC236}">
                    <a16:creationId xmlns:a16="http://schemas.microsoft.com/office/drawing/2014/main" id="{D66EB147-A449-45CE-AC71-132D408CD3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0566" y="6103655"/>
                <a:ext cx="5131880" cy="461665"/>
              </a:xfrm>
              <a:prstGeom prst="rect">
                <a:avLst/>
              </a:prstGeom>
              <a:blipFill>
                <a:blip r:embed="rId3"/>
                <a:stretch>
                  <a:fillRect b="-921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magine 6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106" t="34837" r="39858" b="32128"/>
          <a:stretch/>
        </p:blipFill>
        <p:spPr>
          <a:xfrm>
            <a:off x="6888088" y="1800237"/>
            <a:ext cx="4526880" cy="3358653"/>
          </a:xfrm>
          <a:prstGeom prst="rect">
            <a:avLst/>
          </a:prstGeom>
        </p:spPr>
      </p:pic>
      <p:sp>
        <p:nvSpPr>
          <p:cNvPr id="10" name="Text Box 2">
            <a:extLst>
              <a:ext uri="{FF2B5EF4-FFF2-40B4-BE49-F238E27FC236}">
                <a16:creationId xmlns:a16="http://schemas.microsoft.com/office/drawing/2014/main" id="{D66EB147-A449-45CE-AC71-132D408CD3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1073" y="5301208"/>
            <a:ext cx="539454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defRPr sz="5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5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5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5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5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ctr">
              <a:spcBef>
                <a:spcPts val="0"/>
              </a:spcBef>
            </a:pPr>
            <a:r>
              <a:rPr lang="it-IT" altLang="it-IT" sz="12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Lettino del </a:t>
            </a:r>
            <a:r>
              <a:rPr lang="it-IT" altLang="it-IT" sz="1200" dirty="0" err="1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RoboCouch</a:t>
            </a:r>
            <a:r>
              <a:rPr lang="it-IT" altLang="it-IT" sz="12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dopo lo spostamento e posizionamento della struttura portante del </a:t>
            </a:r>
            <a:r>
              <a:rPr lang="it-IT" altLang="it-IT" sz="1200" dirty="0" err="1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DaVinci</a:t>
            </a:r>
            <a:r>
              <a:rPr lang="it-IT" altLang="it-IT" sz="12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02378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Procedimento: simulazione </a:t>
            </a:r>
            <a:r>
              <a:rPr lang="it-IT" dirty="0" smtClean="0"/>
              <a:t>3a</a:t>
            </a:r>
            <a:endParaRPr lang="it-IT" dirty="0"/>
          </a:p>
        </p:txBody>
      </p:sp>
      <p:sp>
        <p:nvSpPr>
          <p:cNvPr id="3" name="Rettangolo 2"/>
          <p:cNvSpPr/>
          <p:nvPr/>
        </p:nvSpPr>
        <p:spPr>
          <a:xfrm>
            <a:off x="0" y="1174394"/>
            <a:ext cx="608787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lvl="1" algn="just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it-IT" altLang="it-IT" sz="1600" b="1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Simulazione </a:t>
            </a:r>
            <a:r>
              <a:rPr lang="it-IT" altLang="it-IT" sz="16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3a: </a:t>
            </a:r>
            <a:r>
              <a:rPr lang="it-IT" altLang="it-IT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posizionamento del polso </a:t>
            </a:r>
            <a:r>
              <a:rPr lang="it-IT" altLang="it-IT" sz="16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del </a:t>
            </a:r>
            <a:r>
              <a:rPr lang="it-IT" altLang="it-IT" sz="1600" dirty="0" err="1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DaVinci</a:t>
            </a:r>
            <a:r>
              <a:rPr lang="it-IT" altLang="it-IT" sz="16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altLang="it-IT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 l’utensile fuori dal paziente</a:t>
            </a:r>
            <a:r>
              <a:rPr lang="it-IT" altLang="it-IT" sz="16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pic>
        <p:nvPicPr>
          <p:cNvPr id="4" name="Immagin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230" y="1816858"/>
            <a:ext cx="5760640" cy="43204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2">
                <a:extLst>
                  <a:ext uri="{FF2B5EF4-FFF2-40B4-BE49-F238E27FC236}">
                    <a16:creationId xmlns:a16="http://schemas.microsoft.com/office/drawing/2014/main" id="{D66EB147-A449-45CE-AC71-132D408CD3D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1728" y="6137338"/>
                <a:ext cx="5131880" cy="468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marL="457200" indent="-457200">
                  <a:defRPr sz="5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5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5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5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5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indent="0" algn="ctr">
                  <a:spcBef>
                    <a:spcPts val="0"/>
                  </a:spcBef>
                </a:pPr>
                <a:r>
                  <a:rPr lang="it-IT" altLang="it-IT" sz="1200" i="1" dirty="0" smtClean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Figure (6): </a:t>
                </a:r>
                <a:r>
                  <a:rPr lang="it-IT" altLang="it-IT" sz="1200" dirty="0" smtClean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Profili cinematici (posizione </a:t>
                </a:r>
                <a14:m>
                  <m:oMath xmlns:m="http://schemas.openxmlformats.org/officeDocument/2006/math">
                    <m:r>
                      <a:rPr lang="it-IT" altLang="it-IT" sz="1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𝑞</m:t>
                    </m:r>
                  </m:oMath>
                </a14:m>
                <a:r>
                  <a:rPr lang="it-IT" altLang="it-IT" sz="1200" dirty="0" smtClean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_1, velocità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it-IT" altLang="it-IT" sz="12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it-IT" altLang="it-IT" sz="1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𝑞</m:t>
                        </m:r>
                        <m:r>
                          <a:rPr lang="it-IT" altLang="it-IT" sz="1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_1</m:t>
                        </m:r>
                      </m:e>
                    </m:acc>
                  </m:oMath>
                </a14:m>
                <a:r>
                  <a:rPr lang="it-IT" altLang="it-IT" sz="1200" dirty="0" smtClean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, accelerazione </a:t>
                </a:r>
                <a14:m>
                  <m:oMath xmlns:m="http://schemas.openxmlformats.org/officeDocument/2006/math">
                    <m:acc>
                      <m:accPr>
                        <m:chr m:val="̈"/>
                        <m:ctrlPr>
                          <a:rPr lang="it-IT" altLang="it-IT" sz="12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it-IT" altLang="it-IT" sz="1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𝑞</m:t>
                        </m:r>
                      </m:e>
                    </m:acc>
                  </m:oMath>
                </a14:m>
                <a:r>
                  <a:rPr lang="it-IT" altLang="it-IT" sz="1200" dirty="0" smtClean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_1) dei giunti </a:t>
                </a:r>
                <a14:m>
                  <m:oMath xmlns:m="http://schemas.openxmlformats.org/officeDocument/2006/math">
                    <m:r>
                      <a:rPr lang="it-IT" altLang="it-IT" sz="1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𝑞</m:t>
                    </m:r>
                    <m:r>
                      <a:rPr lang="it-IT" altLang="it-IT" sz="1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_1(5)−</m:t>
                    </m:r>
                    <m:r>
                      <a:rPr lang="it-IT" altLang="it-IT" sz="1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𝑞</m:t>
                    </m:r>
                    <m:r>
                      <a:rPr lang="it-IT" altLang="it-IT" sz="1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_1(8)</m:t>
                    </m:r>
                  </m:oMath>
                </a14:m>
                <a:r>
                  <a:rPr lang="it-IT" altLang="it-IT" sz="1200" dirty="0" smtClean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del polso del </a:t>
                </a:r>
                <a:r>
                  <a:rPr lang="it-IT" altLang="it-IT" sz="1200" dirty="0" err="1" smtClean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DaVinci</a:t>
                </a:r>
                <a:r>
                  <a:rPr lang="it-IT" altLang="it-IT" sz="1200" dirty="0" smtClean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7" name="Text Box 2">
                <a:extLst>
                  <a:ext uri="{FF2B5EF4-FFF2-40B4-BE49-F238E27FC236}">
                    <a16:creationId xmlns:a16="http://schemas.microsoft.com/office/drawing/2014/main" id="{D66EB147-A449-45CE-AC71-132D408CD3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1728" y="6137338"/>
                <a:ext cx="5131880" cy="468654"/>
              </a:xfrm>
              <a:prstGeom prst="rect">
                <a:avLst/>
              </a:prstGeom>
              <a:blipFill>
                <a:blip r:embed="rId3"/>
                <a:stretch>
                  <a:fillRect r="-356" b="-1039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Immagine 8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49" t="35749" r="40703" b="32117"/>
          <a:stretch/>
        </p:blipFill>
        <p:spPr>
          <a:xfrm>
            <a:off x="6960096" y="1845334"/>
            <a:ext cx="4320479" cy="3240358"/>
          </a:xfrm>
          <a:prstGeom prst="rect">
            <a:avLst/>
          </a:prstGeom>
        </p:spPr>
      </p:pic>
      <p:sp>
        <p:nvSpPr>
          <p:cNvPr id="10" name="Text Box 2">
            <a:extLst>
              <a:ext uri="{FF2B5EF4-FFF2-40B4-BE49-F238E27FC236}">
                <a16:creationId xmlns:a16="http://schemas.microsoft.com/office/drawing/2014/main" id="{D66EB147-A449-45CE-AC71-132D408CD3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1073" y="5301208"/>
            <a:ext cx="539454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defRPr sz="5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5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5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5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5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ctr">
              <a:spcBef>
                <a:spcPts val="0"/>
              </a:spcBef>
            </a:pPr>
            <a:r>
              <a:rPr lang="it-IT" altLang="it-IT" sz="12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Posizionamento del polso del </a:t>
            </a:r>
            <a:r>
              <a:rPr lang="it-IT" altLang="it-IT" sz="1200" dirty="0" err="1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DaVinci</a:t>
            </a:r>
            <a:r>
              <a:rPr lang="it-IT" altLang="it-IT" sz="12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con l’utensile fuori dal paziente.</a:t>
            </a:r>
          </a:p>
        </p:txBody>
      </p:sp>
    </p:spTree>
    <p:extLst>
      <p:ext uri="{BB962C8B-B14F-4D97-AF65-F5344CB8AC3E}">
        <p14:creationId xmlns:p14="http://schemas.microsoft.com/office/powerpoint/2010/main" val="2007058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Procedimento: </a:t>
            </a:r>
            <a:r>
              <a:rPr lang="it-IT" dirty="0"/>
              <a:t>simulazione </a:t>
            </a:r>
            <a:r>
              <a:rPr lang="it-IT" dirty="0" smtClean="0"/>
              <a:t>3b</a:t>
            </a:r>
            <a:endParaRPr lang="it-IT" dirty="0"/>
          </a:p>
        </p:txBody>
      </p:sp>
      <p:sp>
        <p:nvSpPr>
          <p:cNvPr id="3" name="Rettangolo 2"/>
          <p:cNvSpPr/>
          <p:nvPr/>
        </p:nvSpPr>
        <p:spPr>
          <a:xfrm>
            <a:off x="3846" y="1158262"/>
            <a:ext cx="609037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lvl="1" algn="just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it-IT" altLang="it-IT" sz="1600" b="1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Simulazione </a:t>
            </a:r>
            <a:r>
              <a:rPr lang="it-IT" altLang="it-IT" sz="16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3b:</a:t>
            </a:r>
            <a:r>
              <a:rPr lang="it-IT" altLang="it-IT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inserimento dell’utensile del </a:t>
            </a:r>
            <a:r>
              <a:rPr lang="it-IT" altLang="it-IT" sz="1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DaVinci</a:t>
            </a:r>
            <a:r>
              <a:rPr lang="it-IT" altLang="it-IT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fino al punto target.</a:t>
            </a:r>
            <a:endParaRPr lang="it-IT" altLang="it-IT" sz="1600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Immagin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582" y="1747991"/>
            <a:ext cx="5760640" cy="43204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2">
                <a:extLst>
                  <a:ext uri="{FF2B5EF4-FFF2-40B4-BE49-F238E27FC236}">
                    <a16:creationId xmlns:a16="http://schemas.microsoft.com/office/drawing/2014/main" id="{D66EB147-A449-45CE-AC71-132D408CD3D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6802" y="6068471"/>
                <a:ext cx="5264462" cy="468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marL="457200" indent="-457200">
                  <a:defRPr sz="5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5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5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5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5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indent="0" algn="ctr">
                  <a:spcBef>
                    <a:spcPts val="0"/>
                  </a:spcBef>
                </a:pPr>
                <a:r>
                  <a:rPr lang="it-IT" altLang="it-IT" sz="1200" i="1" dirty="0" smtClean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Figure (7): </a:t>
                </a:r>
                <a:r>
                  <a:rPr lang="it-IT" altLang="it-IT" sz="1200" dirty="0" smtClean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Profilo cinematico (posizione </a:t>
                </a:r>
                <a14:m>
                  <m:oMath xmlns:m="http://schemas.openxmlformats.org/officeDocument/2006/math">
                    <m:r>
                      <a:rPr lang="it-IT" altLang="it-IT" sz="1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𝑞</m:t>
                    </m:r>
                    <m:r>
                      <a:rPr lang="it-IT" altLang="it-IT" sz="1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_2</m:t>
                    </m:r>
                  </m:oMath>
                </a14:m>
                <a:r>
                  <a:rPr lang="it-IT" altLang="it-IT" sz="1200" dirty="0" smtClean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, velocità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it-IT" altLang="it-IT" sz="12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it-IT" altLang="it-IT" sz="1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𝑞</m:t>
                        </m:r>
                        <m:r>
                          <a:rPr lang="it-IT" altLang="it-IT" sz="1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_2</m:t>
                        </m:r>
                      </m:e>
                    </m:acc>
                  </m:oMath>
                </a14:m>
                <a:r>
                  <a:rPr lang="it-IT" altLang="it-IT" sz="1200" dirty="0" smtClean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, accelerazione </a:t>
                </a:r>
                <a14:m>
                  <m:oMath xmlns:m="http://schemas.openxmlformats.org/officeDocument/2006/math">
                    <m:acc>
                      <m:accPr>
                        <m:chr m:val="̈"/>
                        <m:ctrlPr>
                          <a:rPr lang="it-IT" altLang="it-IT" sz="12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it-IT" altLang="it-IT" sz="1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𝑞</m:t>
                        </m:r>
                      </m:e>
                    </m:acc>
                  </m:oMath>
                </a14:m>
                <a:r>
                  <a:rPr lang="it-IT" altLang="it-IT" sz="1200" dirty="0" smtClean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_2) del giunto </a:t>
                </a:r>
                <a14:m>
                  <m:oMath xmlns:m="http://schemas.openxmlformats.org/officeDocument/2006/math">
                    <m:r>
                      <a:rPr lang="it-IT" altLang="it-IT" sz="1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𝑞</m:t>
                    </m:r>
                    <m:r>
                      <a:rPr lang="it-IT" altLang="it-IT" sz="1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_2(9)</m:t>
                    </m:r>
                  </m:oMath>
                </a14:m>
                <a:r>
                  <a:rPr lang="it-IT" altLang="it-IT" sz="1200" dirty="0" smtClean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del </a:t>
                </a:r>
                <a:r>
                  <a:rPr lang="it-IT" altLang="it-IT" sz="1200" dirty="0" err="1" smtClean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DaVinci</a:t>
                </a:r>
                <a:r>
                  <a:rPr lang="it-IT" altLang="it-IT" sz="1200" dirty="0" smtClean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(inserimento).</a:t>
                </a:r>
              </a:p>
            </p:txBody>
          </p:sp>
        </mc:Choice>
        <mc:Fallback xmlns="">
          <p:sp>
            <p:nvSpPr>
              <p:cNvPr id="5" name="Text Box 2">
                <a:extLst>
                  <a:ext uri="{FF2B5EF4-FFF2-40B4-BE49-F238E27FC236}">
                    <a16:creationId xmlns:a16="http://schemas.microsoft.com/office/drawing/2014/main" id="{D66EB147-A449-45CE-AC71-132D408CD3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6802" y="6068471"/>
                <a:ext cx="5264462" cy="468654"/>
              </a:xfrm>
              <a:prstGeom prst="rect">
                <a:avLst/>
              </a:prstGeom>
              <a:blipFill>
                <a:blip r:embed="rId3"/>
                <a:stretch>
                  <a:fillRect b="-1039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magine 5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35" t="35455" r="40772" b="32541"/>
          <a:stretch/>
        </p:blipFill>
        <p:spPr>
          <a:xfrm>
            <a:off x="6948094" y="1808820"/>
            <a:ext cx="4332482" cy="3249361"/>
          </a:xfrm>
          <a:prstGeom prst="rect">
            <a:avLst/>
          </a:prstGeom>
        </p:spPr>
      </p:pic>
      <p:sp>
        <p:nvSpPr>
          <p:cNvPr id="7" name="Text Box 2">
            <a:extLst>
              <a:ext uri="{FF2B5EF4-FFF2-40B4-BE49-F238E27FC236}">
                <a16:creationId xmlns:a16="http://schemas.microsoft.com/office/drawing/2014/main" id="{D66EB147-A449-45CE-AC71-132D408CD3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1073" y="5301208"/>
            <a:ext cx="539454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defRPr sz="5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5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5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5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5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ctr">
              <a:spcBef>
                <a:spcPts val="0"/>
              </a:spcBef>
            </a:pPr>
            <a:r>
              <a:rPr lang="it-IT" altLang="it-IT" sz="12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Inserimento dell’utensile del </a:t>
            </a:r>
            <a:r>
              <a:rPr lang="it-IT" altLang="it-IT" sz="1200" dirty="0" err="1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DaVinci</a:t>
            </a:r>
            <a:r>
              <a:rPr lang="it-IT" altLang="it-IT" sz="12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fino al punto target.</a:t>
            </a:r>
          </a:p>
        </p:txBody>
      </p:sp>
    </p:spTree>
    <p:extLst>
      <p:ext uri="{BB962C8B-B14F-4D97-AF65-F5344CB8AC3E}">
        <p14:creationId xmlns:p14="http://schemas.microsoft.com/office/powerpoint/2010/main" val="868422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Procedimento: </a:t>
            </a:r>
            <a:r>
              <a:rPr lang="it-IT" dirty="0"/>
              <a:t>simulazione 4</a:t>
            </a:r>
          </a:p>
        </p:txBody>
      </p:sp>
      <p:sp>
        <p:nvSpPr>
          <p:cNvPr id="3" name="Rettangolo 2"/>
          <p:cNvSpPr/>
          <p:nvPr/>
        </p:nvSpPr>
        <p:spPr>
          <a:xfrm>
            <a:off x="3846" y="1158262"/>
            <a:ext cx="609037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lvl="1" algn="just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it-IT" altLang="it-IT" sz="1600" b="1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Simulazione 4:</a:t>
            </a:r>
            <a:r>
              <a:rPr lang="it-IT" altLang="it-IT" sz="16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movimento verso un nuovo punto target con utensile inserito.</a:t>
            </a:r>
            <a:endParaRPr lang="it-IT" altLang="it-IT" sz="1600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2">
                <a:extLst>
                  <a:ext uri="{FF2B5EF4-FFF2-40B4-BE49-F238E27FC236}">
                    <a16:creationId xmlns:a16="http://schemas.microsoft.com/office/drawing/2014/main" id="{D66EB147-A449-45CE-AC71-132D408CD3D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7368" y="6144526"/>
                <a:ext cx="5327902" cy="468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marL="457200" indent="-457200">
                  <a:defRPr sz="5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5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5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5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5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indent="0" algn="ctr">
                  <a:spcBef>
                    <a:spcPts val="0"/>
                  </a:spcBef>
                </a:pPr>
                <a:r>
                  <a:rPr lang="it-IT" altLang="it-IT" sz="1200" i="1" dirty="0" smtClean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Figure (8): </a:t>
                </a:r>
                <a:r>
                  <a:rPr lang="it-IT" altLang="it-IT" sz="1200" dirty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Profili cinematici (posizione </a:t>
                </a:r>
                <a14:m>
                  <m:oMath xmlns:m="http://schemas.openxmlformats.org/officeDocument/2006/math">
                    <m:r>
                      <a:rPr lang="it-IT" altLang="it-IT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𝑞</m:t>
                    </m:r>
                  </m:oMath>
                </a14:m>
                <a:r>
                  <a:rPr lang="it-IT" altLang="it-IT" sz="1200" dirty="0" smtClean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_3, </a:t>
                </a:r>
                <a:r>
                  <a:rPr lang="it-IT" altLang="it-IT" sz="1200" dirty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velocità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it-IT" altLang="it-IT" sz="1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it-IT" altLang="it-IT" sz="1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𝑞</m:t>
                        </m:r>
                        <m:r>
                          <a:rPr lang="it-IT" altLang="it-IT" sz="1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_3</m:t>
                        </m:r>
                      </m:e>
                    </m:acc>
                  </m:oMath>
                </a14:m>
                <a:r>
                  <a:rPr lang="it-IT" altLang="it-IT" sz="1200" dirty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, accelerazione </a:t>
                </a:r>
                <a14:m>
                  <m:oMath xmlns:m="http://schemas.openxmlformats.org/officeDocument/2006/math">
                    <m:acc>
                      <m:accPr>
                        <m:chr m:val="̈"/>
                        <m:ctrlPr>
                          <a:rPr lang="it-IT" altLang="it-IT" sz="1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it-IT" altLang="it-IT" sz="1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𝑞</m:t>
                        </m:r>
                      </m:e>
                    </m:acc>
                  </m:oMath>
                </a14:m>
                <a:r>
                  <a:rPr lang="it-IT" altLang="it-IT" sz="1200" dirty="0" smtClean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_3) </a:t>
                </a:r>
                <a:r>
                  <a:rPr lang="it-IT" altLang="it-IT" sz="1200" dirty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dei giunti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altLang="it-IT" sz="12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q</m:t>
                    </m:r>
                    <m:r>
                      <a:rPr lang="it-IT" altLang="it-IT" sz="12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_3(5)</m:t>
                    </m:r>
                    <m:r>
                      <a:rPr lang="it-IT" altLang="it-IT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−</m:t>
                    </m:r>
                    <m:r>
                      <a:rPr lang="it-IT" altLang="it-IT" sz="1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𝑞</m:t>
                    </m:r>
                    <m:r>
                      <a:rPr lang="it-IT" altLang="it-IT" sz="1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_3(8)</m:t>
                    </m:r>
                  </m:oMath>
                </a14:m>
                <a:r>
                  <a:rPr lang="it-IT" altLang="it-IT" sz="1200" dirty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del polso del </a:t>
                </a:r>
                <a:r>
                  <a:rPr lang="it-IT" altLang="it-IT" sz="1200" dirty="0" err="1" smtClean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DaVinci</a:t>
                </a:r>
                <a:r>
                  <a:rPr lang="it-IT" altLang="it-IT" sz="1200" dirty="0" smtClean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(spostamento verso un nuovo target).</a:t>
                </a:r>
                <a:endParaRPr lang="it-IT" altLang="it-IT" sz="1200" dirty="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" name="Text Box 2">
                <a:extLst>
                  <a:ext uri="{FF2B5EF4-FFF2-40B4-BE49-F238E27FC236}">
                    <a16:creationId xmlns:a16="http://schemas.microsoft.com/office/drawing/2014/main" id="{D66EB147-A449-45CE-AC71-132D408CD3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7368" y="6144526"/>
                <a:ext cx="5327902" cy="468654"/>
              </a:xfrm>
              <a:prstGeom prst="rect">
                <a:avLst/>
              </a:prstGeom>
              <a:blipFill>
                <a:blip r:embed="rId2"/>
                <a:stretch>
                  <a:fillRect b="-1039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magin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348" y="1743037"/>
            <a:ext cx="5868652" cy="4401489"/>
          </a:xfrm>
          <a:prstGeom prst="rect">
            <a:avLst/>
          </a:prstGeom>
        </p:spPr>
      </p:pic>
      <p:pic>
        <p:nvPicPr>
          <p:cNvPr id="8" name="Immagine 7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493" t="36056" r="40210" b="31223"/>
          <a:stretch/>
        </p:blipFill>
        <p:spPr>
          <a:xfrm>
            <a:off x="7608167" y="3487913"/>
            <a:ext cx="3384376" cy="2461367"/>
          </a:xfrm>
          <a:prstGeom prst="rect">
            <a:avLst/>
          </a:prstGeom>
        </p:spPr>
      </p:pic>
      <p:sp>
        <p:nvSpPr>
          <p:cNvPr id="10" name="Text Box 2">
            <a:extLst>
              <a:ext uri="{FF2B5EF4-FFF2-40B4-BE49-F238E27FC236}">
                <a16:creationId xmlns:a16="http://schemas.microsoft.com/office/drawing/2014/main" id="{D66EB147-A449-45CE-AC71-132D408CD3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7057" y="6257300"/>
            <a:ext cx="539454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defRPr sz="5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5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5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5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5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ctr">
              <a:spcBef>
                <a:spcPts val="0"/>
              </a:spcBef>
            </a:pPr>
            <a:r>
              <a:rPr lang="it-IT" altLang="it-IT" sz="12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Prima (sopra) e dopo (sotto) lo spostamento dell’utensile inserito da un target all’altro.</a:t>
            </a:r>
          </a:p>
        </p:txBody>
      </p:sp>
      <p:pic>
        <p:nvPicPr>
          <p:cNvPr id="11" name="Immagine 10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35" t="35455" r="40772" b="32541"/>
          <a:stretch/>
        </p:blipFill>
        <p:spPr>
          <a:xfrm>
            <a:off x="7704178" y="917721"/>
            <a:ext cx="3396378" cy="2547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175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Procedimento: </a:t>
            </a:r>
            <a:r>
              <a:rPr lang="it-IT" dirty="0"/>
              <a:t>simulazione 5</a:t>
            </a:r>
          </a:p>
        </p:txBody>
      </p:sp>
      <p:sp>
        <p:nvSpPr>
          <p:cNvPr id="3" name="Rettangolo 2"/>
          <p:cNvSpPr/>
          <p:nvPr/>
        </p:nvSpPr>
        <p:spPr>
          <a:xfrm>
            <a:off x="3846" y="1158262"/>
            <a:ext cx="609037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lvl="1" algn="just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it-IT" altLang="it-IT" sz="1600" b="1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Simulazione 5:</a:t>
            </a:r>
            <a:r>
              <a:rPr lang="it-IT" altLang="it-IT" sz="16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estrazione dell’utensile del </a:t>
            </a:r>
            <a:r>
              <a:rPr lang="it-IT" altLang="it-IT" sz="1600" dirty="0" err="1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DaVinci</a:t>
            </a:r>
            <a:r>
              <a:rPr lang="it-IT" altLang="it-IT" sz="16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dal nuovo target.</a:t>
            </a:r>
            <a:endParaRPr lang="it-IT" altLang="it-IT" sz="1600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2">
                <a:extLst>
                  <a:ext uri="{FF2B5EF4-FFF2-40B4-BE49-F238E27FC236}">
                    <a16:creationId xmlns:a16="http://schemas.microsoft.com/office/drawing/2014/main" id="{D66EB147-A449-45CE-AC71-132D408CD3D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47962" y="6068471"/>
                <a:ext cx="5131880" cy="468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marL="457200" indent="-457200">
                  <a:defRPr sz="5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5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5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5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5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5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indent="0" algn="ctr">
                  <a:spcBef>
                    <a:spcPts val="0"/>
                  </a:spcBef>
                </a:pPr>
                <a:r>
                  <a:rPr lang="it-IT" altLang="it-IT" sz="1200" i="1" dirty="0" smtClean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Figure (9): </a:t>
                </a:r>
                <a:r>
                  <a:rPr lang="it-IT" altLang="it-IT" sz="1200" dirty="0" smtClean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Profilo cinematico (posizione </a:t>
                </a:r>
                <a14:m>
                  <m:oMath xmlns:m="http://schemas.openxmlformats.org/officeDocument/2006/math">
                    <m:r>
                      <a:rPr lang="it-IT" altLang="it-IT" sz="1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𝑞</m:t>
                    </m:r>
                    <m:r>
                      <a:rPr lang="it-IT" altLang="it-IT" sz="1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_4</m:t>
                    </m:r>
                  </m:oMath>
                </a14:m>
                <a:r>
                  <a:rPr lang="it-IT" altLang="it-IT" sz="1200" dirty="0" smtClean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, velocità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it-IT" altLang="it-IT" sz="12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it-IT" altLang="it-IT" sz="1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𝑞</m:t>
                        </m:r>
                        <m:r>
                          <a:rPr lang="it-IT" altLang="it-IT" sz="1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_4</m:t>
                        </m:r>
                      </m:e>
                    </m:acc>
                  </m:oMath>
                </a14:m>
                <a:r>
                  <a:rPr lang="it-IT" altLang="it-IT" sz="1200" dirty="0" smtClean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, accelerazione </a:t>
                </a:r>
                <a14:m>
                  <m:oMath xmlns:m="http://schemas.openxmlformats.org/officeDocument/2006/math">
                    <m:acc>
                      <m:accPr>
                        <m:chr m:val="̈"/>
                        <m:ctrlPr>
                          <a:rPr lang="it-IT" altLang="it-IT" sz="12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it-IT" altLang="it-IT" sz="1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𝑞</m:t>
                        </m:r>
                      </m:e>
                    </m:acc>
                  </m:oMath>
                </a14:m>
                <a:r>
                  <a:rPr lang="it-IT" altLang="it-IT" sz="1200" dirty="0" smtClean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_4) del giunto </a:t>
                </a:r>
                <a14:m>
                  <m:oMath xmlns:m="http://schemas.openxmlformats.org/officeDocument/2006/math">
                    <m:r>
                      <a:rPr lang="it-IT" altLang="it-IT" sz="1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𝑞</m:t>
                    </m:r>
                    <m:r>
                      <a:rPr lang="it-IT" altLang="it-IT" sz="1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_4(9)</m:t>
                    </m:r>
                  </m:oMath>
                </a14:m>
                <a:r>
                  <a:rPr lang="it-IT" altLang="it-IT" sz="1200" dirty="0" smtClean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del </a:t>
                </a:r>
                <a:r>
                  <a:rPr lang="it-IT" altLang="it-IT" sz="1200" dirty="0" err="1" smtClean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DaVinci</a:t>
                </a:r>
                <a:r>
                  <a:rPr lang="it-IT" altLang="it-IT" sz="1200" dirty="0" smtClean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(estrazione).</a:t>
                </a:r>
              </a:p>
            </p:txBody>
          </p:sp>
        </mc:Choice>
        <mc:Fallback xmlns="">
          <p:sp>
            <p:nvSpPr>
              <p:cNvPr id="5" name="Text Box 2">
                <a:extLst>
                  <a:ext uri="{FF2B5EF4-FFF2-40B4-BE49-F238E27FC236}">
                    <a16:creationId xmlns:a16="http://schemas.microsoft.com/office/drawing/2014/main" id="{D66EB147-A449-45CE-AC71-132D408CD3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7962" y="6068471"/>
                <a:ext cx="5131880" cy="468654"/>
              </a:xfrm>
              <a:prstGeom prst="rect">
                <a:avLst/>
              </a:prstGeom>
              <a:blipFill>
                <a:blip r:embed="rId2"/>
                <a:stretch>
                  <a:fillRect b="-1039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magin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357" y="1743037"/>
            <a:ext cx="5786772" cy="4340078"/>
          </a:xfrm>
          <a:prstGeom prst="rect">
            <a:avLst/>
          </a:prstGeom>
        </p:spPr>
      </p:pic>
      <p:pic>
        <p:nvPicPr>
          <p:cNvPr id="8" name="Immagine 7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64" t="36924" r="40221" b="32518"/>
          <a:stretch/>
        </p:blipFill>
        <p:spPr>
          <a:xfrm>
            <a:off x="6834903" y="1916832"/>
            <a:ext cx="4598835" cy="3109072"/>
          </a:xfrm>
          <a:prstGeom prst="rect">
            <a:avLst/>
          </a:prstGeom>
        </p:spPr>
      </p:pic>
      <p:sp>
        <p:nvSpPr>
          <p:cNvPr id="9" name="Text Box 2">
            <a:extLst>
              <a:ext uri="{FF2B5EF4-FFF2-40B4-BE49-F238E27FC236}">
                <a16:creationId xmlns:a16="http://schemas.microsoft.com/office/drawing/2014/main" id="{D66EB147-A449-45CE-AC71-132D408CD3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1073" y="5301208"/>
            <a:ext cx="539454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defRPr sz="5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5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5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5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5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ctr">
              <a:spcBef>
                <a:spcPts val="0"/>
              </a:spcBef>
            </a:pPr>
            <a:r>
              <a:rPr lang="it-IT" altLang="it-IT" sz="12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Estrazione dell’utensile del </a:t>
            </a:r>
            <a:r>
              <a:rPr lang="it-IT" altLang="it-IT" sz="1200" dirty="0" err="1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DaVinci</a:t>
            </a:r>
            <a:r>
              <a:rPr lang="it-IT" altLang="it-IT" sz="12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dal punto target.</a:t>
            </a:r>
          </a:p>
        </p:txBody>
      </p:sp>
    </p:spTree>
    <p:extLst>
      <p:ext uri="{BB962C8B-B14F-4D97-AF65-F5344CB8AC3E}">
        <p14:creationId xmlns:p14="http://schemas.microsoft.com/office/powerpoint/2010/main" val="4267357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Procedimento: dati quantitativi</a:t>
            </a:r>
            <a:endParaRPr lang="it-IT" dirty="0"/>
          </a:p>
        </p:txBody>
      </p:sp>
      <p:pic>
        <p:nvPicPr>
          <p:cNvPr id="3" name="Immagin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40" y="1340768"/>
            <a:ext cx="5724636" cy="4293477"/>
          </a:xfrm>
          <a:prstGeom prst="rect">
            <a:avLst/>
          </a:prstGeom>
        </p:spPr>
      </p:pic>
      <p:sp>
        <p:nvSpPr>
          <p:cNvPr id="5" name="Text Box 2">
            <a:extLst>
              <a:ext uri="{FF2B5EF4-FFF2-40B4-BE49-F238E27FC236}">
                <a16:creationId xmlns:a16="http://schemas.microsoft.com/office/drawing/2014/main" id="{D66EB147-A449-45CE-AC71-132D408CD3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394" y="5579077"/>
            <a:ext cx="475252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defRPr sz="5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5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5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5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5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ctr">
              <a:spcBef>
                <a:spcPts val="0"/>
              </a:spcBef>
            </a:pPr>
            <a:r>
              <a:rPr lang="it-IT" altLang="it-IT" sz="1200" i="1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Figure (10): </a:t>
            </a:r>
            <a:r>
              <a:rPr lang="it-IT" altLang="it-IT" sz="12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Traiettoria cartesiana del </a:t>
            </a:r>
            <a:r>
              <a:rPr lang="it-IT" altLang="it-IT" sz="1200" dirty="0" err="1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tool</a:t>
            </a:r>
            <a:r>
              <a:rPr lang="it-IT" altLang="it-IT" sz="12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finale del robot </a:t>
            </a:r>
            <a:r>
              <a:rPr lang="it-IT" altLang="it-IT" sz="1200" dirty="0" err="1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DaVinci</a:t>
            </a:r>
            <a:r>
              <a:rPr lang="it-IT" altLang="it-IT" sz="12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nel tempo</a:t>
            </a:r>
          </a:p>
        </p:txBody>
      </p:sp>
      <p:graphicFrame>
        <p:nvGraphicFramePr>
          <p:cNvPr id="7" name="Tabella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5866263"/>
              </p:ext>
            </p:extLst>
          </p:nvPr>
        </p:nvGraphicFramePr>
        <p:xfrm>
          <a:off x="6093568" y="1124744"/>
          <a:ext cx="5976664" cy="54457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672408">
                  <a:extLst>
                    <a:ext uri="{9D8B030D-6E8A-4147-A177-3AD203B41FA5}">
                      <a16:colId xmlns:a16="http://schemas.microsoft.com/office/drawing/2014/main" val="2494503459"/>
                    </a:ext>
                  </a:extLst>
                </a:gridCol>
                <a:gridCol w="2304256">
                  <a:extLst>
                    <a:ext uri="{9D8B030D-6E8A-4147-A177-3AD203B41FA5}">
                      <a16:colId xmlns:a16="http://schemas.microsoft.com/office/drawing/2014/main" val="34797761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sz="1600" b="1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Dati</a:t>
                      </a:r>
                      <a:r>
                        <a:rPr lang="it-IT" sz="1600" b="1" baseline="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quantitativi</a:t>
                      </a:r>
                      <a:endParaRPr lang="it-IT" sz="16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600" b="1" kern="1200" baseline="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Valori</a:t>
                      </a:r>
                      <a:endParaRPr lang="it-IT" sz="1600" b="1" kern="1200" baseline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5780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it-IT" sz="160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Tempo di movimento</a:t>
                      </a:r>
                      <a:r>
                        <a:rPr lang="it-IT" sz="1600" baseline="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(</a:t>
                      </a:r>
                      <a:r>
                        <a:rPr lang="it-IT" sz="1600" b="1" baseline="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</a:t>
                      </a:r>
                      <a:r>
                        <a:rPr lang="it-IT" sz="1600" baseline="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it-IT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60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 s</a:t>
                      </a:r>
                      <a:endParaRPr lang="it-IT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049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it-IT" sz="160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Passi di simulazione (</a:t>
                      </a:r>
                      <a:r>
                        <a:rPr lang="it-IT" sz="1600" b="1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</a:t>
                      </a:r>
                      <a:r>
                        <a:rPr lang="it-IT" sz="160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it-IT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60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41</a:t>
                      </a:r>
                      <a:endParaRPr lang="it-IT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2359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it-IT" sz="160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Passo temporale</a:t>
                      </a:r>
                      <a:r>
                        <a:rPr lang="it-IT" sz="1600" baseline="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(</a:t>
                      </a:r>
                      <a:r>
                        <a:rPr lang="it-IT" sz="1600" b="1" baseline="0" dirty="0" err="1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dt</a:t>
                      </a:r>
                      <a:r>
                        <a:rPr lang="it-IT" sz="1600" baseline="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it-IT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60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0.05 s</a:t>
                      </a:r>
                      <a:endParaRPr lang="it-IT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9065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160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Coordinate</a:t>
                      </a:r>
                      <a:r>
                        <a:rPr lang="it-IT" sz="1600" baseline="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del primo punto target (</a:t>
                      </a:r>
                      <a:r>
                        <a:rPr lang="it-IT" sz="1600" b="1" baseline="0" dirty="0" err="1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</a:t>
                      </a:r>
                      <a:r>
                        <a:rPr lang="it-IT" sz="1600" b="1" baseline="-25000" dirty="0" err="1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</a:t>
                      </a:r>
                      <a:r>
                        <a:rPr lang="it-IT" sz="1600" baseline="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 nel sistema world</a:t>
                      </a:r>
                      <a:endParaRPr lang="it-IT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60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 =1778.366 mm</a:t>
                      </a:r>
                    </a:p>
                    <a:p>
                      <a:pPr algn="l"/>
                      <a:r>
                        <a:rPr lang="it-IT" sz="160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Y = -12.100 mm</a:t>
                      </a:r>
                    </a:p>
                    <a:p>
                      <a:pPr algn="l"/>
                      <a:r>
                        <a:rPr lang="it-IT" sz="160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Z = 849.9166 mm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17595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160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Coordinate</a:t>
                      </a:r>
                      <a:r>
                        <a:rPr lang="it-IT" sz="1600" baseline="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del secondo punto target (</a:t>
                      </a:r>
                      <a:r>
                        <a:rPr lang="it-IT" sz="1600" b="1" baseline="0" dirty="0" err="1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</a:t>
                      </a:r>
                      <a:r>
                        <a:rPr lang="it-IT" sz="1600" b="1" baseline="-25000" dirty="0" err="1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</a:t>
                      </a:r>
                      <a:r>
                        <a:rPr lang="it-IT" sz="1600" baseline="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 nel sistema world</a:t>
                      </a:r>
                      <a:endParaRPr lang="it-IT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60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 = 3840.46</a:t>
                      </a:r>
                      <a:r>
                        <a:rPr lang="it-IT" sz="1600" baseline="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 mm</a:t>
                      </a:r>
                    </a:p>
                    <a:p>
                      <a:pPr algn="l"/>
                      <a:r>
                        <a:rPr lang="it-IT" sz="160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Y = 2100 mm </a:t>
                      </a:r>
                    </a:p>
                    <a:p>
                      <a:pPr algn="l"/>
                      <a:r>
                        <a:rPr lang="it-IT" sz="160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Z = 849.9166 mm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3042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Spostamento massimo nell’inserimento</a:t>
                      </a:r>
                      <a:r>
                        <a:rPr lang="it-IT" sz="1600" baseline="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del </a:t>
                      </a:r>
                      <a:r>
                        <a:rPr lang="it-IT" sz="1600" baseline="0" dirty="0" err="1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tool</a:t>
                      </a:r>
                      <a:r>
                        <a:rPr lang="it-IT" sz="1600" baseline="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nel primo target (</a:t>
                      </a:r>
                      <a:r>
                        <a:rPr lang="it-IT" sz="1600" b="1" baseline="0" dirty="0" err="1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max</a:t>
                      </a:r>
                      <a:r>
                        <a:rPr lang="it-IT" sz="1600" b="1" baseline="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(dq_2)</a:t>
                      </a:r>
                      <a:r>
                        <a:rPr lang="it-IT" sz="1600" b="0" baseline="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it-IT" sz="1600" b="0" dirty="0" smtClean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60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dq_2(9) = 372.2103 mm</a:t>
                      </a:r>
                      <a:endParaRPr lang="it-IT"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17774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160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Spostamento massimo</a:t>
                      </a:r>
                      <a:r>
                        <a:rPr lang="it-IT" sz="1600" baseline="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del </a:t>
                      </a:r>
                      <a:r>
                        <a:rPr lang="it-IT" sz="1600" baseline="0" dirty="0" err="1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tool</a:t>
                      </a:r>
                      <a:r>
                        <a:rPr lang="it-IT" sz="1600" baseline="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nel secondo target (</a:t>
                      </a:r>
                      <a:r>
                        <a:rPr lang="it-IT" sz="1600" b="1" baseline="0" dirty="0" err="1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max</a:t>
                      </a:r>
                      <a:r>
                        <a:rPr lang="it-IT" sz="1600" b="1" baseline="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(dq_3)</a:t>
                      </a:r>
                      <a:r>
                        <a:rPr lang="it-IT" sz="1600" b="0" baseline="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it-IT" sz="16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60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dq_3(5) = 45.0871 °</a:t>
                      </a:r>
                      <a:endParaRPr lang="it-IT"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38879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160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Valore finale di q</a:t>
                      </a:r>
                      <a:r>
                        <a:rPr lang="it-IT" sz="1600" baseline="-2500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  <a:r>
                        <a:rPr lang="it-IT" sz="1600" baseline="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dopo l’inserimento del </a:t>
                      </a:r>
                      <a:r>
                        <a:rPr lang="it-IT" sz="1600" baseline="0" dirty="0" err="1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tool</a:t>
                      </a:r>
                      <a:r>
                        <a:rPr lang="it-IT" sz="1600" baseline="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nel primo target (</a:t>
                      </a:r>
                      <a:r>
                        <a:rPr lang="it-IT" sz="1600" b="1" baseline="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qf_2(9)</a:t>
                      </a:r>
                      <a:r>
                        <a:rPr lang="it-IT" sz="1600" b="0" baseline="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it-IT" sz="16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60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372.2103 mm</a:t>
                      </a:r>
                      <a:endParaRPr lang="it-IT"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64849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160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Valore finale di q</a:t>
                      </a:r>
                      <a:r>
                        <a:rPr lang="it-IT" sz="1600" baseline="-2500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  <a:r>
                        <a:rPr lang="it-IT" sz="1600" baseline="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dopo lo spostamento dell’utensile nel nuovo target (</a:t>
                      </a:r>
                      <a:r>
                        <a:rPr lang="it-IT" sz="1600" b="1" baseline="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qf_3(9)</a:t>
                      </a:r>
                      <a:r>
                        <a:rPr lang="it-IT" sz="1600" baseline="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it-IT"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60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369.6492 mm</a:t>
                      </a:r>
                      <a:endParaRPr lang="it-IT"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00501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9585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Tema di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Tema di Office">
      <a:majorFont>
        <a:latin typeface="Times New Roman"/>
        <a:ea typeface=""/>
        <a:cs typeface="Lucida Sans Unicode"/>
      </a:majorFont>
      <a:minorFont>
        <a:latin typeface="Times New Roman"/>
        <a:ea typeface=""/>
        <a:cs typeface="Lucida Sans Unicod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82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6" charset="0"/>
            <a:cs typeface="Lucida Sans Unicode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82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6" charset="0"/>
            <a:cs typeface="Lucida Sans Unicode" charset="0"/>
          </a:defRPr>
        </a:defPPr>
      </a:lstStyle>
    </a:lnDef>
  </a:objectDefaults>
  <a:extraClrSchemeLst>
    <a:extraClrScheme>
      <a:clrScheme name="Tema di Offic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i Offic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a di Offic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i Offic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i Offic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i Offic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i Offic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239</TotalTime>
  <Words>651</Words>
  <Application>Microsoft Office PowerPoint</Application>
  <PresentationFormat>Widescreen</PresentationFormat>
  <Paragraphs>80</Paragraphs>
  <Slides>9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9</vt:i4>
      </vt:variant>
    </vt:vector>
  </HeadingPairs>
  <TitlesOfParts>
    <vt:vector size="16" baseType="lpstr">
      <vt:lpstr>Arial</vt:lpstr>
      <vt:lpstr>Calibri</vt:lpstr>
      <vt:lpstr>Cambria Math</vt:lpstr>
      <vt:lpstr>Lucida Sans Unicode</vt:lpstr>
      <vt:lpstr>Times New Roman</vt:lpstr>
      <vt:lpstr>Wingdings</vt:lpstr>
      <vt:lpstr>Tema di Office</vt:lpstr>
      <vt:lpstr>Robotica Medica 2025/26 – Esercitazione Matlab</vt:lpstr>
      <vt:lpstr>Procedimento</vt:lpstr>
      <vt:lpstr>Procedimento: simulazione 1</vt:lpstr>
      <vt:lpstr>Procedimento: simulazione 2 </vt:lpstr>
      <vt:lpstr>Procedimento: simulazione 3a</vt:lpstr>
      <vt:lpstr>Procedimento: simulazione 3b</vt:lpstr>
      <vt:lpstr>Procedimento: simulazione 4</vt:lpstr>
      <vt:lpstr>Procedimento: simulazione 5</vt:lpstr>
      <vt:lpstr>Procedimento: dati quantitativi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notazione DH</dc:title>
  <dc:creator>Matilde Marie</dc:creator>
  <cp:lastModifiedBy>Matilde Marie</cp:lastModifiedBy>
  <cp:revision>1457</cp:revision>
  <cp:lastPrinted>1997-10-22T15:51:33Z</cp:lastPrinted>
  <dcterms:created xsi:type="dcterms:W3CDTF">1995-06-17T23:31:02Z</dcterms:created>
  <dcterms:modified xsi:type="dcterms:W3CDTF">2025-12-10T18:33:05Z</dcterms:modified>
</cp:coreProperties>
</file>